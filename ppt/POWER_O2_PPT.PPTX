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76" r:id="rId4"/>
    <p:sldId id="258" r:id="rId5"/>
    <p:sldId id="265" r:id="rId6"/>
    <p:sldId id="261" r:id="rId7"/>
    <p:sldId id="262" r:id="rId8"/>
    <p:sldId id="268" r:id="rId9"/>
    <p:sldId id="274" r:id="rId10"/>
    <p:sldId id="277" r:id="rId11"/>
    <p:sldId id="263" r:id="rId12"/>
    <p:sldId id="267" r:id="rId13"/>
    <p:sldId id="269" r:id="rId14"/>
    <p:sldId id="272" r:id="rId15"/>
    <p:sldId id="273" r:id="rId16"/>
    <p:sldId id="275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73737"/>
    <a:srgbClr val="F7F595"/>
    <a:srgbClr val="007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608" autoAdjust="0"/>
  </p:normalViewPr>
  <p:slideViewPr>
    <p:cSldViewPr snapToGrid="0">
      <p:cViewPr varScale="1">
        <p:scale>
          <a:sx n="77" d="100"/>
          <a:sy n="77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88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09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28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73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95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34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58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62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6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02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21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C7FDA-A761-48ED-975E-D6606C53994A}" type="datetimeFigureOut">
              <a:rPr lang="en-IN" smtClean="0"/>
              <a:t>17-03-2020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75BB5-49D9-4ECE-BD0E-D1DAB48211C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45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A0C4-6606-4916-B389-535EE312E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9715" y="434347"/>
            <a:ext cx="8822267" cy="1385834"/>
          </a:xfrm>
        </p:spPr>
        <p:txBody>
          <a:bodyPr>
            <a:normAutofit/>
          </a:bodyPr>
          <a:lstStyle/>
          <a:p>
            <a:pPr algn="ctr"/>
            <a:r>
              <a:rPr lang="en-IN" sz="4400" dirty="0"/>
              <a:t>A Presentation 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AA842-F7E4-4E45-BDB1-9D954A54B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706" y="2854065"/>
            <a:ext cx="8673427" cy="803536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+mj-lt"/>
              </a:rPr>
              <a:t>POWER O</a:t>
            </a:r>
            <a:r>
              <a:rPr lang="en-IN" sz="4800" b="1" baseline="-25000" dirty="0">
                <a:latin typeface="+mj-lt"/>
              </a:rPr>
              <a:t>2</a:t>
            </a:r>
            <a:r>
              <a:rPr lang="en-IN" sz="4800" b="1" dirty="0">
                <a:latin typeface="+mj-lt"/>
              </a:rPr>
              <a:t>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7ECEE8-36B8-4C02-8534-7785E3CDC2E5}"/>
              </a:ext>
            </a:extLst>
          </p:cNvPr>
          <p:cNvSpPr txBox="1">
            <a:spLocks/>
          </p:cNvSpPr>
          <p:nvPr/>
        </p:nvSpPr>
        <p:spPr>
          <a:xfrm>
            <a:off x="1901126" y="5565261"/>
            <a:ext cx="8673427" cy="69960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chemeClr val="tx1"/>
                </a:solidFill>
                <a:latin typeface="+mj-lt"/>
              </a:rPr>
              <a:t>By Sun Petrochemicalss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D18558-077E-44ED-9B94-AA508CDEFF7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707" y="2580274"/>
            <a:ext cx="2781796" cy="12960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7AE0300-CFBC-4936-B7AF-12F6D9DA40BC}"/>
              </a:ext>
            </a:extLst>
          </p:cNvPr>
          <p:cNvSpPr txBox="1">
            <a:spLocks/>
          </p:cNvSpPr>
          <p:nvPr/>
        </p:nvSpPr>
        <p:spPr>
          <a:xfrm>
            <a:off x="1832808" y="4522289"/>
            <a:ext cx="8673427" cy="699602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chemeClr val="bg1"/>
                </a:solidFill>
                <a:latin typeface="+mj-lt"/>
              </a:rPr>
              <a:t>An Ultimate Solution for Fuel Saving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F5BC4-1C57-4AB2-8E48-3357102BD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157" y="2612571"/>
            <a:ext cx="2784471" cy="126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9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7365" y="563671"/>
            <a:ext cx="5498925" cy="5912285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en-IN" sz="2000" dirty="0">
                <a:latin typeface="+mj-lt"/>
              </a:rPr>
              <a:t>We </a:t>
            </a:r>
            <a:r>
              <a:rPr lang="en-IN" sz="2000" dirty="0">
                <a:highlight>
                  <a:srgbClr val="FFFF00"/>
                </a:highlight>
                <a:latin typeface="+mj-lt"/>
              </a:rPr>
              <a:t>XXXXXXXXXXXXXXX are a set of Energy Professionals; active in Energy Solutions business in India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We have rich experience in implementing energy saving solutions which enables us to save Fuel, Electricity, Oil and Water</a:t>
            </a:r>
            <a:r>
              <a:rPr lang="en-US" altLang="zh-CN" sz="2000" dirty="0">
                <a:latin typeface="+mj-lt"/>
                <a:cs typeface="Arial" panose="020B0604020202020204" pitchFamily="34" charset="0"/>
              </a:rPr>
              <a:t> in many Industries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en-IN" sz="2000" dirty="0">
                <a:latin typeface="+mj-lt"/>
                <a:cs typeface="Arial" panose="020B0604020202020204" pitchFamily="34" charset="0"/>
              </a:rPr>
              <a:t>Value added services like; </a:t>
            </a:r>
            <a:r>
              <a:rPr lang="en-US" altLang="en-US" sz="2000" dirty="0">
                <a:latin typeface="+mj-lt"/>
                <a:cs typeface="Arial" panose="020B0604020202020204" pitchFamily="34" charset="0"/>
              </a:rPr>
              <a:t>Advisory on Energy Conservation measures &amp; Vendor selection make us a ‘one stop shop’  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en-IN" sz="2000" dirty="0">
                <a:latin typeface="+mj-lt"/>
                <a:cs typeface="Arial" panose="020B0604020202020204" pitchFamily="34" charset="0"/>
              </a:rPr>
              <a:t>Our wholistic facility approach helps to; generate the best value for the end user and plan for; future changes and budgets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</a:pPr>
            <a:r>
              <a:rPr lang="en-IN" sz="2000" dirty="0">
                <a:latin typeface="+mj-lt"/>
                <a:cs typeface="Arial" panose="020B0604020202020204" pitchFamily="34" charset="0"/>
              </a:rPr>
              <a:t>For more details please visit</a:t>
            </a:r>
            <a:r>
              <a:rPr lang="en-IN" sz="2000" dirty="0">
                <a:highlight>
                  <a:srgbClr val="FFFF00"/>
                </a:highlight>
                <a:latin typeface="+mj-lt"/>
                <a:cs typeface="Arial" panose="020B0604020202020204" pitchFamily="34" charset="0"/>
              </a:rPr>
              <a:t> XXXXXXXXXXX</a:t>
            </a:r>
            <a:r>
              <a:rPr lang="en-IN" sz="2000" dirty="0">
                <a:latin typeface="+mj-lt"/>
                <a:cs typeface="Arial" panose="020B0604020202020204" pitchFamily="34" charset="0"/>
              </a:rPr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4690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The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53" y="613775"/>
            <a:ext cx="5516637" cy="569934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The internal combustion Engine burns Fuel ( Petrol or Diesel) for which it needs oxygen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The oxygen in the Air (21%) controls the amount / volume  of Fuel an engine can burn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Ratio of Fuel to Air is usually 1:14.7 or more which means for each gram of fuel to burn it needs 14.7 grams or more grams of Air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Engine can’t burn more Fuel than the amount of oxygen allows, so; </a:t>
            </a:r>
            <a:r>
              <a:rPr lang="en-IN" sz="2000" b="1" dirty="0">
                <a:latin typeface="+mj-lt"/>
              </a:rPr>
              <a:t>Extra fuel = Unburnt Wastage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If an engine is provided with more  oxygen, then it would obviously improve the combustion increasing thermal efficiency and reducing fuel consumption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IN" sz="2000" dirty="0">
                <a:latin typeface="+mj-lt"/>
              </a:rPr>
              <a:t>Also there will be substantial reduction in unburnt Hydrocarbons, carbon monoxide &amp; smoke</a:t>
            </a:r>
            <a:endParaRPr lang="en-IN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F699A3-88DA-4E47-90CC-4ED3F153C98E}"/>
              </a:ext>
            </a:extLst>
          </p:cNvPr>
          <p:cNvSpPr txBox="1">
            <a:spLocks/>
          </p:cNvSpPr>
          <p:nvPr/>
        </p:nvSpPr>
        <p:spPr>
          <a:xfrm>
            <a:off x="427917" y="4114802"/>
            <a:ext cx="5431011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</a:t>
            </a:r>
            <a:r>
              <a:rPr lang="en-US" sz="2400" b="1" spc="-10" dirty="0">
                <a:latin typeface="+mj-lt"/>
                <a:cs typeface="RobotoRegular"/>
              </a:rPr>
              <a:t>More Oxygen, better Combustion</a:t>
            </a:r>
            <a:endParaRPr lang="en-IN" dirty="0"/>
          </a:p>
        </p:txBody>
      </p:sp>
      <p:pic>
        <p:nvPicPr>
          <p:cNvPr id="8" name="Picture 7" descr="It would take more oxygen tanks than you could fit in your car to have enough oxygen to power your engine.">
            <a:extLst>
              <a:ext uri="{FF2B5EF4-FFF2-40B4-BE49-F238E27FC236}">
                <a16:creationId xmlns:a16="http://schemas.microsoft.com/office/drawing/2014/main" id="{72B9C654-9ECD-4BA8-923A-517EF1CC3244}"/>
              </a:ext>
            </a:extLst>
          </p:cNvPr>
          <p:cNvPicPr/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9067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601" y="1718441"/>
            <a:ext cx="740970" cy="3191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23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Power O</a:t>
            </a:r>
            <a:r>
              <a:rPr lang="en-IN" b="1" baseline="-25000" dirty="0"/>
              <a:t>2</a:t>
            </a:r>
            <a:r>
              <a:rPr lang="en-IN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046" y="179615"/>
            <a:ext cx="6258940" cy="2090056"/>
          </a:xfrm>
        </p:spPr>
        <p:txBody>
          <a:bodyPr>
            <a:normAutofit/>
          </a:bodyPr>
          <a:lstStyle/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</a:pPr>
            <a:r>
              <a:rPr lang="en-IN" sz="2200" dirty="0">
                <a:latin typeface="+mj-lt"/>
              </a:rPr>
              <a:t>Power O</a:t>
            </a:r>
            <a:r>
              <a:rPr lang="en-IN" sz="2200" baseline="-25000" dirty="0">
                <a:latin typeface="+mj-lt"/>
              </a:rPr>
              <a:t>2</a:t>
            </a:r>
            <a:r>
              <a:rPr lang="en-US" sz="2200" dirty="0">
                <a:latin typeface="+mj-lt"/>
                <a:cs typeface="RobotoRegular"/>
              </a:rPr>
              <a:t> is a ‘PATENTED’ clamp on type </a:t>
            </a:r>
            <a:r>
              <a:rPr lang="en-US" sz="2200" spc="5" dirty="0">
                <a:latin typeface="+mj-lt"/>
                <a:cs typeface="RobotoRegular"/>
              </a:rPr>
              <a:t>catalytic </a:t>
            </a:r>
            <a:r>
              <a:rPr lang="en-US" sz="2200" spc="-10" dirty="0">
                <a:latin typeface="+mj-lt"/>
                <a:cs typeface="RobotoRegular"/>
              </a:rPr>
              <a:t>converter </a:t>
            </a:r>
            <a:r>
              <a:rPr lang="en-US" sz="2200" spc="5" dirty="0">
                <a:latin typeface="+mj-lt"/>
                <a:cs typeface="RobotoRegular"/>
              </a:rPr>
              <a:t>with </a:t>
            </a:r>
            <a:r>
              <a:rPr lang="en-US" sz="2200" spc="-10" dirty="0">
                <a:latin typeface="+mj-lt"/>
                <a:cs typeface="RobotoRegular"/>
              </a:rPr>
              <a:t>pre-combustion  </a:t>
            </a:r>
            <a:r>
              <a:rPr lang="en-US" sz="2200" spc="-15" dirty="0">
                <a:latin typeface="+mj-lt"/>
                <a:cs typeface="RobotoRegular"/>
              </a:rPr>
              <a:t>technology </a:t>
            </a: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SzPct val="100000"/>
            </a:pPr>
            <a:r>
              <a:rPr lang="en-IN" sz="2200" dirty="0">
                <a:latin typeface="+mj-lt"/>
              </a:rPr>
              <a:t>It’s a simple external attachment with NO alteration to engine design</a:t>
            </a:r>
            <a:endParaRPr lang="en-IN" sz="2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F699A3-88DA-4E47-90CC-4ED3F153C98E}"/>
              </a:ext>
            </a:extLst>
          </p:cNvPr>
          <p:cNvSpPr txBox="1">
            <a:spLocks/>
          </p:cNvSpPr>
          <p:nvPr/>
        </p:nvSpPr>
        <p:spPr>
          <a:xfrm>
            <a:off x="427917" y="4114802"/>
            <a:ext cx="5431011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latin typeface="+mj-lt"/>
                <a:cs typeface="RobotoRegular"/>
              </a:rPr>
              <a:t>Different from Conventional Systems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A2530FD-DA34-407B-A2FB-0A7CAA189393}"/>
              </a:ext>
            </a:extLst>
          </p:cNvPr>
          <p:cNvSpPr txBox="1">
            <a:spLocks/>
          </p:cNvSpPr>
          <p:nvPr/>
        </p:nvSpPr>
        <p:spPr>
          <a:xfrm>
            <a:off x="5233373" y="4457703"/>
            <a:ext cx="6408898" cy="2612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R="123825" algn="just">
              <a:spcBef>
                <a:spcPts val="0"/>
              </a:spcBef>
              <a:spcAft>
                <a:spcPts val="900"/>
              </a:spcAft>
              <a:buSzPct val="100000"/>
            </a:pPr>
            <a:r>
              <a:rPr lang="en-US" sz="2400" spc="-10" dirty="0">
                <a:latin typeface="+mj-lt"/>
                <a:cs typeface="RobotoRegular"/>
              </a:rPr>
              <a:t>It </a:t>
            </a:r>
            <a:r>
              <a:rPr lang="en-US" sz="2400" spc="-20" dirty="0">
                <a:latin typeface="+mj-lt"/>
                <a:cs typeface="RobotoRegular"/>
              </a:rPr>
              <a:t>provides</a:t>
            </a:r>
            <a:r>
              <a:rPr lang="en-US" sz="2400" spc="10" dirty="0">
                <a:latin typeface="+mj-lt"/>
                <a:cs typeface="RobotoRegular"/>
              </a:rPr>
              <a:t> </a:t>
            </a:r>
            <a:r>
              <a:rPr lang="en-US" sz="2400" spc="-10" dirty="0">
                <a:latin typeface="+mj-lt"/>
                <a:cs typeface="RobotoRegular"/>
              </a:rPr>
              <a:t>engine </a:t>
            </a:r>
            <a:r>
              <a:rPr lang="en-US" sz="2400" spc="5" dirty="0">
                <a:latin typeface="+mj-lt"/>
                <a:cs typeface="RobotoRegular"/>
              </a:rPr>
              <a:t>with</a:t>
            </a:r>
            <a:r>
              <a:rPr lang="en-US" sz="2400" spc="-20" dirty="0">
                <a:latin typeface="+mj-lt"/>
                <a:cs typeface="RobotoRegular"/>
              </a:rPr>
              <a:t> enriched</a:t>
            </a:r>
            <a:r>
              <a:rPr lang="en-US" sz="2400" spc="-40" dirty="0">
                <a:latin typeface="+mj-lt"/>
                <a:cs typeface="RobotoRegular"/>
              </a:rPr>
              <a:t> </a:t>
            </a:r>
            <a:r>
              <a:rPr lang="en-US" sz="2400" spc="-5" dirty="0">
                <a:latin typeface="+mj-lt"/>
                <a:cs typeface="RobotoRegular"/>
              </a:rPr>
              <a:t>homogenous</a:t>
            </a:r>
            <a:r>
              <a:rPr lang="en-US" sz="2400" spc="-75" dirty="0">
                <a:latin typeface="+mj-lt"/>
                <a:cs typeface="RobotoRegular"/>
              </a:rPr>
              <a:t> </a:t>
            </a:r>
            <a:r>
              <a:rPr lang="en-US" sz="2400" dirty="0">
                <a:latin typeface="+mj-lt"/>
                <a:cs typeface="RobotoRegular"/>
              </a:rPr>
              <a:t>mixture</a:t>
            </a:r>
            <a:r>
              <a:rPr lang="en-US" sz="2400" spc="-95" dirty="0">
                <a:latin typeface="+mj-lt"/>
                <a:cs typeface="RobotoRegular"/>
              </a:rPr>
              <a:t> </a:t>
            </a:r>
            <a:r>
              <a:rPr lang="en-US" sz="2400" spc="-5" dirty="0">
                <a:latin typeface="+mj-lt"/>
                <a:cs typeface="RobotoRegular"/>
              </a:rPr>
              <a:t>of</a:t>
            </a:r>
            <a:r>
              <a:rPr lang="en-US" sz="2400" spc="-30" dirty="0">
                <a:latin typeface="+mj-lt"/>
                <a:cs typeface="RobotoRegular"/>
              </a:rPr>
              <a:t> </a:t>
            </a:r>
            <a:r>
              <a:rPr lang="en-US" sz="2400" spc="-5" dirty="0">
                <a:latin typeface="+mj-lt"/>
                <a:cs typeface="RobotoRegular"/>
              </a:rPr>
              <a:t>oxygen</a:t>
            </a:r>
            <a:r>
              <a:rPr lang="en-US" sz="2400" spc="-20" dirty="0">
                <a:latin typeface="+mj-lt"/>
                <a:cs typeface="RobotoRegular"/>
              </a:rPr>
              <a:t> </a:t>
            </a:r>
            <a:r>
              <a:rPr lang="en-US" sz="2400" dirty="0">
                <a:latin typeface="+mj-lt"/>
                <a:cs typeface="RobotoRegular"/>
              </a:rPr>
              <a:t>for</a:t>
            </a:r>
            <a:r>
              <a:rPr lang="en-US" sz="2400" spc="-20" dirty="0">
                <a:latin typeface="+mj-lt"/>
                <a:cs typeface="RobotoRegular"/>
              </a:rPr>
              <a:t> </a:t>
            </a:r>
            <a:r>
              <a:rPr lang="en-US" sz="2400" spc="-15" dirty="0">
                <a:latin typeface="+mj-lt"/>
                <a:cs typeface="RobotoRegular"/>
              </a:rPr>
              <a:t>ideal  </a:t>
            </a:r>
            <a:r>
              <a:rPr lang="en-US" sz="2400" dirty="0">
                <a:latin typeface="+mj-lt"/>
                <a:cs typeface="RobotoRegular"/>
              </a:rPr>
              <a:t>air- fuel mixture </a:t>
            </a:r>
          </a:p>
          <a:p>
            <a:pPr marR="123825" algn="just">
              <a:spcBef>
                <a:spcPts val="0"/>
              </a:spcBef>
              <a:spcAft>
                <a:spcPts val="900"/>
              </a:spcAft>
              <a:buSzPct val="100000"/>
            </a:pPr>
            <a:r>
              <a:rPr lang="en-US" sz="2400" dirty="0">
                <a:latin typeface="+mj-lt"/>
                <a:cs typeface="RobotoRegular"/>
              </a:rPr>
              <a:t>Hot air enriched with Oxygen ensures high burning efficiency and maximum heat out put   </a:t>
            </a:r>
          </a:p>
          <a:p>
            <a:pPr marR="123825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200" dirty="0">
              <a:latin typeface="+mj-lt"/>
              <a:cs typeface="RobotoRegular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IN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C4D6BDA2-1F80-4C4A-8347-73860842F348}"/>
              </a:ext>
            </a:extLst>
          </p:cNvPr>
          <p:cNvSpPr>
            <a:spLocks/>
          </p:cNvSpPr>
          <p:nvPr/>
        </p:nvSpPr>
        <p:spPr>
          <a:xfrm>
            <a:off x="6681205" y="2089495"/>
            <a:ext cx="3230238" cy="2810991"/>
          </a:xfrm>
          <a:prstGeom prst="rect">
            <a:avLst/>
          </a:prstGeom>
          <a:blipFill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424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&amp;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930" y="183427"/>
            <a:ext cx="5689192" cy="621161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n-US" sz="2400" dirty="0">
              <a:latin typeface="RobotoRegular"/>
              <a:cs typeface="RobotoRegular"/>
            </a:endParaRPr>
          </a:p>
          <a:p>
            <a:pPr marR="118745" algn="just" fontAlgn="base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</a:pPr>
            <a:r>
              <a:rPr lang="en-IN" sz="2400" dirty="0">
                <a:latin typeface="+mj-lt"/>
              </a:rPr>
              <a:t>It is a device; clamped to exhaust gas manifold and natural air is sucked in to the adapter which then passes through a cavity having intermetallic compound. </a:t>
            </a:r>
          </a:p>
          <a:p>
            <a:pPr marR="118745" algn="just" fontAlgn="base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</a:pPr>
            <a:r>
              <a:rPr lang="en-IN" sz="2400" dirty="0">
                <a:latin typeface="+mj-lt"/>
              </a:rPr>
              <a:t>Intermetallic compound ensures optimum heat conductivity and catalytic action which separates out Oxygen to enrich the air with O</a:t>
            </a:r>
            <a:r>
              <a:rPr lang="en-IN" sz="2400" baseline="-25000" dirty="0">
                <a:latin typeface="+mj-lt"/>
              </a:rPr>
              <a:t>2</a:t>
            </a:r>
            <a:r>
              <a:rPr lang="en-IN" sz="2400" dirty="0">
                <a:latin typeface="+mj-lt"/>
              </a:rPr>
              <a:t> </a:t>
            </a:r>
          </a:p>
          <a:p>
            <a:pPr marR="118745" algn="just" fontAlgn="base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</a:pPr>
            <a:r>
              <a:rPr lang="en-IN" sz="2400" dirty="0">
                <a:latin typeface="+mj-lt"/>
              </a:rPr>
              <a:t>The adapter helps to produces homogeneous, rich oxygen mixture required for atomization (in the engine) to the maximum limits to get finest vapor which burns completely </a:t>
            </a:r>
          </a:p>
          <a:p>
            <a:pPr marR="118745" algn="just" fontAlgn="base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</a:pPr>
            <a:r>
              <a:rPr lang="en-US" sz="2400" dirty="0">
                <a:latin typeface="+mj-lt"/>
              </a:rPr>
              <a:t>Almost 97.5% of fuel is atomized in ﬁne vapor form and burns completely improving volumetric eﬃciency and reducing fuel consumption avoiding wastage and  pollution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CF12D-C634-4D80-830D-B1EEDACC7009}"/>
              </a:ext>
            </a:extLst>
          </p:cNvPr>
          <p:cNvSpPr txBox="1">
            <a:spLocks/>
          </p:cNvSpPr>
          <p:nvPr/>
        </p:nvSpPr>
        <p:spPr>
          <a:xfrm>
            <a:off x="752899" y="4202484"/>
            <a:ext cx="4407824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latin typeface="+mj-lt"/>
                <a:cs typeface="RobotoRegular"/>
              </a:rPr>
              <a:t>Pre-combustion Catalytic Converter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69481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525714" cy="2456442"/>
          </a:xfrm>
        </p:spPr>
        <p:txBody>
          <a:bodyPr/>
          <a:lstStyle/>
          <a:p>
            <a:r>
              <a:rPr lang="en-IN" b="1" dirty="0"/>
              <a:t>Benefits     Vehicle Engines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807" y="615935"/>
            <a:ext cx="5589796" cy="6117024"/>
          </a:xfrm>
        </p:spPr>
        <p:txBody>
          <a:bodyPr>
            <a:normAutofit fontScale="92500"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R="224790" algn="just">
              <a:spcBef>
                <a:spcPts val="110"/>
              </a:spcBef>
              <a:spcAft>
                <a:spcPts val="600"/>
              </a:spcAft>
              <a:buSzPct val="100000"/>
            </a:pPr>
            <a:r>
              <a:rPr lang="en-US" sz="2200" spc="-15" dirty="0">
                <a:latin typeface="+mj-lt"/>
                <a:cs typeface="RobotoRegular"/>
              </a:rPr>
              <a:t>Makes the combustion complete; boosting </a:t>
            </a:r>
            <a:r>
              <a:rPr lang="en-US" sz="2200" dirty="0">
                <a:latin typeface="+mj-lt"/>
                <a:cs typeface="RobotoRegular"/>
              </a:rPr>
              <a:t>engine </a:t>
            </a:r>
            <a:r>
              <a:rPr lang="en-US" sz="2200" spc="-10" dirty="0">
                <a:latin typeface="+mj-lt"/>
                <a:cs typeface="RobotoRegular"/>
              </a:rPr>
              <a:t>power, </a:t>
            </a:r>
            <a:r>
              <a:rPr lang="en-US" sz="2200" spc="5" dirty="0">
                <a:latin typeface="+mj-lt"/>
                <a:cs typeface="RobotoRegular"/>
              </a:rPr>
              <a:t>ensuring</a:t>
            </a:r>
            <a:r>
              <a:rPr lang="en-US" sz="2200" spc="-20" dirty="0">
                <a:latin typeface="+mj-lt"/>
                <a:cs typeface="RobotoRegular"/>
              </a:rPr>
              <a:t> </a:t>
            </a:r>
            <a:r>
              <a:rPr lang="en-US" sz="2200" spc="-10" dirty="0">
                <a:latin typeface="+mj-lt"/>
                <a:cs typeface="RobotoRegular"/>
              </a:rPr>
              <a:t>smooth  </a:t>
            </a:r>
            <a:r>
              <a:rPr lang="en-US" sz="2200" spc="5" dirty="0">
                <a:latin typeface="+mj-lt"/>
                <a:cs typeface="RobotoRegular"/>
              </a:rPr>
              <a:t>functioning and saving fuel from 20% up to 40% or more</a:t>
            </a:r>
          </a:p>
          <a:p>
            <a:pPr marR="224790" algn="just">
              <a:spcBef>
                <a:spcPts val="110"/>
              </a:spcBef>
              <a:spcAft>
                <a:spcPts val="600"/>
              </a:spcAft>
              <a:buSzPct val="100000"/>
              <a:tabLst>
                <a:tab pos="264795" algn="l"/>
              </a:tabLst>
            </a:pPr>
            <a:r>
              <a:rPr lang="en-US" sz="2200" spc="-15" dirty="0">
                <a:latin typeface="+mj-lt"/>
              </a:rPr>
              <a:t>Engine runs lighter and driving on steep roads (Ghats) becomes easier in upper gears saving significant fuel </a:t>
            </a:r>
          </a:p>
          <a:p>
            <a:pPr marR="224790" algn="just">
              <a:spcBef>
                <a:spcPts val="110"/>
              </a:spcBef>
              <a:spcAft>
                <a:spcPts val="600"/>
              </a:spcAft>
              <a:buSzPct val="100000"/>
            </a:pPr>
            <a:r>
              <a:rPr lang="en-US" sz="2200" spc="15" dirty="0">
                <a:latin typeface="+mj-lt"/>
                <a:cs typeface="RobotoRegular"/>
              </a:rPr>
              <a:t>Allows to drive the car in 3</a:t>
            </a:r>
            <a:r>
              <a:rPr lang="en-US" sz="2200" spc="15" baseline="30000" dirty="0">
                <a:latin typeface="+mj-lt"/>
                <a:cs typeface="RobotoRegular"/>
              </a:rPr>
              <a:t>rd</a:t>
            </a:r>
            <a:r>
              <a:rPr lang="en-US" sz="2200" spc="15" dirty="0">
                <a:latin typeface="+mj-lt"/>
                <a:cs typeface="RobotoRegular"/>
              </a:rPr>
              <a:t> or 4</a:t>
            </a:r>
            <a:r>
              <a:rPr lang="en-US" sz="2200" spc="15" baseline="30000" dirty="0">
                <a:latin typeface="+mj-lt"/>
                <a:cs typeface="RobotoRegular"/>
              </a:rPr>
              <a:t>th</a:t>
            </a:r>
            <a:r>
              <a:rPr lang="en-US" sz="2200" spc="15" dirty="0">
                <a:latin typeface="+mj-lt"/>
                <a:cs typeface="RobotoRegular"/>
              </a:rPr>
              <a:t> gear even at lower speeds of 30 to 40 Kmph</a:t>
            </a:r>
          </a:p>
          <a:p>
            <a:pPr marR="224790" algn="just">
              <a:spcBef>
                <a:spcPts val="110"/>
              </a:spcBef>
              <a:spcAft>
                <a:spcPts val="600"/>
              </a:spcAft>
              <a:buSzPct val="100000"/>
            </a:pPr>
            <a:r>
              <a:rPr lang="en-US" sz="2200" spc="5" dirty="0">
                <a:latin typeface="+mj-lt"/>
                <a:cs typeface="RobotoRegular"/>
              </a:rPr>
              <a:t>The power received is like Turbo engines &amp; </a:t>
            </a:r>
            <a:r>
              <a:rPr lang="en-US" sz="2200" spc="-5" dirty="0">
                <a:latin typeface="+mj-lt"/>
                <a:cs typeface="RobotoRegular"/>
              </a:rPr>
              <a:t>saves significant fuel expenses</a:t>
            </a:r>
          </a:p>
          <a:p>
            <a:pPr marR="224790" algn="just">
              <a:spcBef>
                <a:spcPts val="110"/>
              </a:spcBef>
              <a:spcAft>
                <a:spcPts val="600"/>
              </a:spcAft>
              <a:buSzPct val="100000"/>
            </a:pPr>
            <a:r>
              <a:rPr lang="en-US" sz="2200" spc="25" dirty="0">
                <a:latin typeface="+mj-lt"/>
                <a:cs typeface="RobotoRegular"/>
              </a:rPr>
              <a:t>Keeps the Engine Cool (avoids hot spots) </a:t>
            </a:r>
            <a:endParaRPr lang="en-US" sz="2200" dirty="0">
              <a:latin typeface="+mj-lt"/>
              <a:cs typeface="RobotoRegular"/>
            </a:endParaRPr>
          </a:p>
          <a:p>
            <a:pPr marR="118110" algn="just">
              <a:spcBef>
                <a:spcPts val="85"/>
              </a:spcBef>
              <a:spcAft>
                <a:spcPts val="600"/>
              </a:spcAft>
              <a:buSzPct val="100000"/>
              <a:tabLst>
                <a:tab pos="264795" algn="l"/>
              </a:tabLst>
            </a:pPr>
            <a:r>
              <a:rPr lang="en-US" sz="2200" dirty="0">
                <a:latin typeface="+mj-lt"/>
                <a:cs typeface="RobotoRegular"/>
              </a:rPr>
              <a:t>Carbon deposits are cleaned up protecting the engine and reducing maintenance cost</a:t>
            </a:r>
          </a:p>
          <a:p>
            <a:endParaRPr lang="en-IN" sz="3300" dirty="0">
              <a:latin typeface="+mj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F9DB96-3EF0-4CDC-92E8-062AA9D672D2}"/>
              </a:ext>
            </a:extLst>
          </p:cNvPr>
          <p:cNvSpPr txBox="1">
            <a:spLocks/>
          </p:cNvSpPr>
          <p:nvPr/>
        </p:nvSpPr>
        <p:spPr>
          <a:xfrm>
            <a:off x="650319" y="4177432"/>
            <a:ext cx="4222306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</a:t>
            </a:r>
            <a:r>
              <a:rPr lang="en-US" sz="2000" b="1" spc="-10" dirty="0">
                <a:latin typeface="+mj-lt"/>
                <a:cs typeface="RobotoRegular"/>
              </a:rPr>
              <a:t>Risk Free – 100% Satisfaction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213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      Gensets - Static engines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385" y="591064"/>
            <a:ext cx="5226542" cy="5775158"/>
          </a:xfrm>
        </p:spPr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L="0" marR="508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spc="20" dirty="0">
                <a:latin typeface="+mj-lt"/>
                <a:cs typeface="RobotoRegular"/>
              </a:rPr>
              <a:t>PATENTED Power O</a:t>
            </a:r>
            <a:r>
              <a:rPr lang="en-US" sz="2000" spc="20" baseline="-25000" dirty="0">
                <a:latin typeface="+mj-lt"/>
                <a:cs typeface="RobotoRegular"/>
              </a:rPr>
              <a:t>2</a:t>
            </a:r>
            <a:r>
              <a:rPr lang="en-US" sz="2000" spc="20" dirty="0">
                <a:latin typeface="+mj-lt"/>
                <a:cs typeface="RobotoRegular"/>
              </a:rPr>
              <a:t> </a:t>
            </a:r>
            <a:r>
              <a:rPr lang="en-US" sz="2000" spc="-5" dirty="0">
                <a:latin typeface="+mj-lt"/>
                <a:cs typeface="RobotoRegular"/>
              </a:rPr>
              <a:t>Technology can be easily implemented on </a:t>
            </a:r>
            <a:r>
              <a:rPr lang="en-US" sz="2000" spc="20" dirty="0">
                <a:latin typeface="+mj-lt"/>
                <a:cs typeface="RobotoRegular"/>
              </a:rPr>
              <a:t>Gensets. The results </a:t>
            </a:r>
            <a:r>
              <a:rPr lang="en-US" sz="2000" spc="-25" dirty="0">
                <a:latin typeface="+mj-lt"/>
                <a:cs typeface="RobotoRegular"/>
              </a:rPr>
              <a:t>can be evaluated </a:t>
            </a:r>
            <a:r>
              <a:rPr lang="en-US" sz="2000" spc="-5" dirty="0">
                <a:latin typeface="+mj-lt"/>
                <a:cs typeface="RobotoRegular"/>
              </a:rPr>
              <a:t> </a:t>
            </a:r>
            <a:r>
              <a:rPr lang="en-US" sz="2000" spc="10" dirty="0">
                <a:latin typeface="+mj-lt"/>
                <a:cs typeface="RobotoRegular"/>
              </a:rPr>
              <a:t>through </a:t>
            </a:r>
            <a:r>
              <a:rPr lang="en-US" sz="2000" spc="25" dirty="0">
                <a:latin typeface="+mj-lt"/>
                <a:cs typeface="RobotoRegular"/>
              </a:rPr>
              <a:t>pre-ﬁtment and </a:t>
            </a:r>
            <a:r>
              <a:rPr lang="en-US" sz="2000" spc="15" dirty="0">
                <a:latin typeface="+mj-lt"/>
                <a:cs typeface="RobotoRegular"/>
              </a:rPr>
              <a:t>post-ﬁtment  </a:t>
            </a:r>
            <a:r>
              <a:rPr lang="en-US" sz="2000" spc="-5" dirty="0">
                <a:latin typeface="+mj-lt"/>
                <a:cs typeface="RobotoRegular"/>
              </a:rPr>
              <a:t>Trial. </a:t>
            </a:r>
            <a:r>
              <a:rPr lang="en-US" sz="2000" spc="25" dirty="0">
                <a:latin typeface="+mj-lt"/>
                <a:cs typeface="RobotoRegular"/>
              </a:rPr>
              <a:t>The </a:t>
            </a:r>
            <a:r>
              <a:rPr lang="en-US" sz="2000" spc="30" dirty="0">
                <a:latin typeface="+mj-lt"/>
                <a:cs typeface="RobotoRegular"/>
              </a:rPr>
              <a:t>beneﬁts </a:t>
            </a:r>
            <a:r>
              <a:rPr lang="en-US" sz="2000" spc="15" dirty="0">
                <a:latin typeface="+mj-lt"/>
                <a:cs typeface="RobotoRegular"/>
              </a:rPr>
              <a:t>are</a:t>
            </a:r>
            <a:r>
              <a:rPr lang="en-US" sz="2000" spc="-125" dirty="0">
                <a:latin typeface="+mj-lt"/>
                <a:cs typeface="RobotoRegular"/>
              </a:rPr>
              <a:t> </a:t>
            </a:r>
            <a:r>
              <a:rPr lang="en-US" sz="2000" spc="20" dirty="0">
                <a:latin typeface="+mj-lt"/>
                <a:cs typeface="RobotoRegular"/>
              </a:rPr>
              <a:t>– 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25" dirty="0">
                <a:latin typeface="+mj-lt"/>
                <a:cs typeface="RobotoRegular"/>
              </a:rPr>
              <a:t>Minimum</a:t>
            </a:r>
            <a:r>
              <a:rPr lang="en-US" sz="2000" spc="-30" dirty="0">
                <a:latin typeface="+mj-lt"/>
                <a:cs typeface="RobotoRegular"/>
              </a:rPr>
              <a:t> </a:t>
            </a:r>
            <a:r>
              <a:rPr lang="en-US" sz="2000" spc="10" dirty="0">
                <a:latin typeface="+mj-lt"/>
                <a:cs typeface="RobotoRegular"/>
              </a:rPr>
              <a:t>10%</a:t>
            </a:r>
            <a:r>
              <a:rPr lang="en-US" sz="2000" spc="-65" dirty="0">
                <a:latin typeface="+mj-lt"/>
                <a:cs typeface="RobotoRegular"/>
              </a:rPr>
              <a:t> </a:t>
            </a:r>
            <a:r>
              <a:rPr lang="en-US" sz="2000" spc="10" dirty="0">
                <a:latin typeface="+mj-lt"/>
                <a:cs typeface="RobotoRegular"/>
              </a:rPr>
              <a:t>to</a:t>
            </a:r>
            <a:r>
              <a:rPr lang="en-US" sz="2000" spc="-40" dirty="0">
                <a:latin typeface="+mj-lt"/>
                <a:cs typeface="RobotoRegular"/>
              </a:rPr>
              <a:t> </a:t>
            </a:r>
            <a:r>
              <a:rPr lang="en-US" sz="2000" spc="10" dirty="0">
                <a:latin typeface="+mj-lt"/>
                <a:cs typeface="RobotoRegular"/>
              </a:rPr>
              <a:t>40%</a:t>
            </a:r>
            <a:r>
              <a:rPr lang="en-US" sz="2000" spc="-70" dirty="0">
                <a:latin typeface="+mj-lt"/>
                <a:cs typeface="RobotoRegular"/>
              </a:rPr>
              <a:t> </a:t>
            </a:r>
            <a:r>
              <a:rPr lang="en-US" sz="2000" spc="20" dirty="0">
                <a:latin typeface="+mj-lt"/>
                <a:cs typeface="RobotoRegular"/>
              </a:rPr>
              <a:t>fuel</a:t>
            </a:r>
            <a:r>
              <a:rPr lang="en-US" sz="2000" spc="-85" dirty="0">
                <a:latin typeface="+mj-lt"/>
                <a:cs typeface="RobotoRegular"/>
              </a:rPr>
              <a:t> </a:t>
            </a:r>
            <a:r>
              <a:rPr lang="en-US" sz="2000" spc="10" dirty="0">
                <a:latin typeface="+mj-lt"/>
                <a:cs typeface="RobotoRegular"/>
              </a:rPr>
              <a:t>saving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10" dirty="0">
                <a:latin typeface="+mj-lt"/>
                <a:cs typeface="RobotoRegular"/>
              </a:rPr>
              <a:t>30% </a:t>
            </a:r>
            <a:r>
              <a:rPr lang="en-US" sz="2000" spc="5" dirty="0">
                <a:latin typeface="+mj-lt"/>
                <a:cs typeface="RobotoRegular"/>
              </a:rPr>
              <a:t>reduction </a:t>
            </a:r>
            <a:r>
              <a:rPr lang="en-US" sz="2000" dirty="0">
                <a:latin typeface="+mj-lt"/>
                <a:cs typeface="RobotoRegular"/>
              </a:rPr>
              <a:t>of </a:t>
            </a:r>
            <a:r>
              <a:rPr lang="en-US" sz="2000" spc="5" dirty="0">
                <a:latin typeface="+mj-lt"/>
                <a:cs typeface="RobotoRegular"/>
              </a:rPr>
              <a:t>smoke</a:t>
            </a:r>
            <a:r>
              <a:rPr lang="en-US" sz="2000" spc="-200" dirty="0">
                <a:latin typeface="+mj-lt"/>
                <a:cs typeface="RobotoRegular"/>
              </a:rPr>
              <a:t> </a:t>
            </a:r>
            <a:r>
              <a:rPr lang="en-US" sz="2000" dirty="0">
                <a:latin typeface="+mj-lt"/>
                <a:cs typeface="RobotoRegular"/>
              </a:rPr>
              <a:t>emission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30" dirty="0">
                <a:latin typeface="+mj-lt"/>
                <a:cs typeface="RobotoRegular"/>
              </a:rPr>
              <a:t>Better </a:t>
            </a:r>
            <a:r>
              <a:rPr lang="en-US" sz="2000" spc="15" dirty="0">
                <a:latin typeface="+mj-lt"/>
                <a:cs typeface="RobotoRegular"/>
              </a:rPr>
              <a:t>engine </a:t>
            </a:r>
            <a:r>
              <a:rPr lang="en-US" sz="2000" spc="-20" dirty="0">
                <a:latin typeface="+mj-lt"/>
                <a:cs typeface="RobotoRegular"/>
              </a:rPr>
              <a:t>life </a:t>
            </a:r>
            <a:r>
              <a:rPr lang="en-US" sz="2000" spc="-10" dirty="0">
                <a:latin typeface="+mj-lt"/>
                <a:cs typeface="RobotoRegular"/>
              </a:rPr>
              <a:t>(Trouble </a:t>
            </a:r>
            <a:r>
              <a:rPr lang="en-US" sz="2000" spc="15" dirty="0">
                <a:latin typeface="+mj-lt"/>
                <a:cs typeface="RobotoRegular"/>
              </a:rPr>
              <a:t>free</a:t>
            </a:r>
            <a:r>
              <a:rPr lang="en-US" sz="2000" spc="-85" dirty="0">
                <a:latin typeface="+mj-lt"/>
                <a:cs typeface="RobotoRegular"/>
              </a:rPr>
              <a:t> </a:t>
            </a:r>
            <a:r>
              <a:rPr lang="en-US" sz="2000" spc="5" dirty="0">
                <a:latin typeface="+mj-lt"/>
                <a:cs typeface="RobotoRegular"/>
              </a:rPr>
              <a:t>smooth  </a:t>
            </a:r>
            <a:r>
              <a:rPr lang="en-US" sz="2000" spc="10" dirty="0">
                <a:latin typeface="+mj-lt"/>
                <a:cs typeface="RobotoRegular"/>
              </a:rPr>
              <a:t>operation)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25" dirty="0">
                <a:latin typeface="+mj-lt"/>
                <a:cs typeface="RobotoRegular"/>
              </a:rPr>
              <a:t>Less </a:t>
            </a:r>
            <a:r>
              <a:rPr lang="en-US" sz="2000" spc="15" dirty="0">
                <a:latin typeface="+mj-lt"/>
                <a:cs typeface="RobotoRegular"/>
              </a:rPr>
              <a:t>engine </a:t>
            </a:r>
            <a:r>
              <a:rPr lang="en-US" sz="2000" spc="-5" dirty="0">
                <a:latin typeface="+mj-lt"/>
                <a:cs typeface="RobotoRegular"/>
              </a:rPr>
              <a:t>noise </a:t>
            </a:r>
            <a:r>
              <a:rPr lang="en-US" sz="2000" spc="20" dirty="0">
                <a:latin typeface="+mj-lt"/>
                <a:cs typeface="RobotoRegular"/>
              </a:rPr>
              <a:t>&amp; </a:t>
            </a:r>
            <a:r>
              <a:rPr lang="en-US" sz="2000" spc="5" dirty="0">
                <a:latin typeface="+mj-lt"/>
                <a:cs typeface="RobotoRegular"/>
              </a:rPr>
              <a:t>vibration, </a:t>
            </a:r>
            <a:r>
              <a:rPr lang="en-US" sz="2000" spc="25" dirty="0">
                <a:latin typeface="+mj-lt"/>
                <a:cs typeface="RobotoRegular"/>
              </a:rPr>
              <a:t>no</a:t>
            </a:r>
            <a:r>
              <a:rPr lang="en-US" sz="2000" spc="-350" dirty="0">
                <a:latin typeface="+mj-lt"/>
                <a:cs typeface="RobotoRegular"/>
              </a:rPr>
              <a:t> </a:t>
            </a:r>
            <a:r>
              <a:rPr lang="en-US" sz="2000" spc="5" dirty="0">
                <a:latin typeface="+mj-lt"/>
                <a:cs typeface="RobotoRegular"/>
              </a:rPr>
              <a:t>jerking </a:t>
            </a:r>
            <a:r>
              <a:rPr lang="en-US" sz="2000" spc="20" dirty="0">
                <a:latin typeface="+mj-lt"/>
                <a:cs typeface="RobotoRegular"/>
              </a:rPr>
              <a:t>&amp;  </a:t>
            </a:r>
            <a:r>
              <a:rPr lang="en-US" sz="2000" spc="-5" dirty="0">
                <a:latin typeface="+mj-lt"/>
                <a:cs typeface="RobotoRegular"/>
              </a:rPr>
              <a:t>knocking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25" dirty="0">
                <a:latin typeface="+mj-lt"/>
                <a:cs typeface="RobotoRegular"/>
              </a:rPr>
              <a:t>No </a:t>
            </a:r>
            <a:r>
              <a:rPr lang="en-US" sz="2000" spc="10" dirty="0">
                <a:latin typeface="+mj-lt"/>
                <a:cs typeface="RobotoRegular"/>
              </a:rPr>
              <a:t>voltage</a:t>
            </a:r>
            <a:r>
              <a:rPr lang="en-US" sz="2000" spc="-100" dirty="0">
                <a:latin typeface="+mj-lt"/>
                <a:cs typeface="RobotoRegular"/>
              </a:rPr>
              <a:t> </a:t>
            </a:r>
            <a:r>
              <a:rPr lang="en-US" sz="2000" spc="5" dirty="0">
                <a:latin typeface="+mj-lt"/>
                <a:cs typeface="RobotoRegular"/>
              </a:rPr>
              <a:t>ﬂuctuation.</a:t>
            </a:r>
          </a:p>
          <a:p>
            <a:pPr indent="-252000" algn="just">
              <a:spcBef>
                <a:spcPts val="0"/>
              </a:spcBef>
              <a:spcAft>
                <a:spcPts val="600"/>
              </a:spcAft>
            </a:pPr>
            <a:r>
              <a:rPr lang="en-US" sz="2000" spc="25" dirty="0">
                <a:latin typeface="+mj-lt"/>
                <a:cs typeface="RobotoRegular"/>
              </a:rPr>
              <a:t>No </a:t>
            </a:r>
            <a:r>
              <a:rPr lang="en-US" sz="2000" spc="15" dirty="0">
                <a:latin typeface="+mj-lt"/>
                <a:cs typeface="RobotoRegular"/>
              </a:rPr>
              <a:t>Starting </a:t>
            </a:r>
            <a:r>
              <a:rPr lang="en-US" sz="2000" spc="5" dirty="0">
                <a:latin typeface="+mj-lt"/>
                <a:cs typeface="RobotoRegular"/>
              </a:rPr>
              <a:t>trouble</a:t>
            </a:r>
            <a:endParaRPr lang="en-US" sz="2000" dirty="0">
              <a:latin typeface="+mj-lt"/>
              <a:cs typeface="RobotoRegular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98EE2-50AA-4FAB-A286-AD44F78E3333}"/>
              </a:ext>
            </a:extLst>
          </p:cNvPr>
          <p:cNvSpPr txBox="1">
            <a:spLocks/>
          </p:cNvSpPr>
          <p:nvPr/>
        </p:nvSpPr>
        <p:spPr>
          <a:xfrm>
            <a:off x="999536" y="4164906"/>
            <a:ext cx="3735302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latin typeface="+mj-lt"/>
                <a:cs typeface="RobotoRegular"/>
              </a:rPr>
              <a:t>Reduction in maintenance cost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30616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Negative Effects?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Maintenance?      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Life?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7AFF-E879-4277-B727-D6A5D7FB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305" y="244693"/>
            <a:ext cx="5296518" cy="6385032"/>
          </a:xfrm>
        </p:spPr>
        <p:txBody>
          <a:bodyPr>
            <a:normAutofit/>
          </a:bodyPr>
          <a:lstStyle/>
          <a:p>
            <a:pPr marL="0" marR="5080" indent="-252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spc="20" dirty="0">
                <a:latin typeface="+mj-lt"/>
                <a:cs typeface="RobotoRegular"/>
              </a:rPr>
              <a:t>ANY NEGATIVE EFFECTS?</a:t>
            </a:r>
            <a:endParaRPr lang="en-US" sz="2000" b="1" dirty="0">
              <a:latin typeface="+mj-lt"/>
              <a:cs typeface="RobotoRegular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There are absolutely </a:t>
            </a:r>
            <a:r>
              <a:rPr lang="en-US" sz="2000" b="1" dirty="0">
                <a:latin typeface="+mj-lt"/>
              </a:rPr>
              <a:t>ZERO</a:t>
            </a:r>
            <a:r>
              <a:rPr lang="en-US" sz="2000" dirty="0">
                <a:latin typeface="+mj-lt"/>
              </a:rPr>
              <a:t> negative effects of Power O</a:t>
            </a:r>
            <a:r>
              <a:rPr lang="en-US" sz="2000" baseline="-25000" dirty="0">
                <a:latin typeface="+mj-lt"/>
              </a:rPr>
              <a:t>2</a:t>
            </a:r>
            <a:r>
              <a:rPr lang="en-US" sz="2000" dirty="0">
                <a:latin typeface="+mj-lt"/>
              </a:rPr>
              <a:t> on engine or related components &amp; is a completely safe device. 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Power O</a:t>
            </a:r>
            <a:r>
              <a:rPr lang="en-US" sz="2000" baseline="-25000" dirty="0">
                <a:latin typeface="+mj-lt"/>
              </a:rPr>
              <a:t>2</a:t>
            </a:r>
            <a:r>
              <a:rPr lang="en-US" sz="2000" dirty="0">
                <a:latin typeface="+mj-lt"/>
              </a:rPr>
              <a:t> takes the combustion process to the best efficiency level, cleanse up the engine and saves significant amount of fuel </a:t>
            </a: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b="1" spc="20" dirty="0">
                <a:latin typeface="+mj-lt"/>
                <a:cs typeface="RobotoRegular"/>
              </a:rPr>
              <a:t>WHAT ABOUT MAINTENANCE?</a:t>
            </a:r>
            <a:endParaRPr lang="en-US" sz="2000" b="1" dirty="0">
              <a:latin typeface="+mj-lt"/>
              <a:cs typeface="RobotoRegular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Almost Zero maintenance &amp; zero cost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Filter mesh in adopter is to be cleaned by flushing water jet or Compressed Air every 2# months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Metal braided hose may have to be changed once in 9 to 12 months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>
                <a:latin typeface="+mj-lt"/>
              </a:rPr>
              <a:t>WHAT’S THE LIFE SPAN?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The life span is 3# Years provided min. required maintenance is done as detailed above</a:t>
            </a:r>
            <a:endParaRPr lang="en-IN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98EE2-50AA-4FAB-A286-AD44F78E3333}"/>
              </a:ext>
            </a:extLst>
          </p:cNvPr>
          <p:cNvSpPr txBox="1">
            <a:spLocks/>
          </p:cNvSpPr>
          <p:nvPr/>
        </p:nvSpPr>
        <p:spPr>
          <a:xfrm>
            <a:off x="978000" y="4114802"/>
            <a:ext cx="3343479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</a:t>
            </a:r>
            <a:r>
              <a:rPr lang="en-US" sz="2000" b="1" spc="-10" dirty="0">
                <a:latin typeface="+mj-lt"/>
                <a:cs typeface="RobotoRegular"/>
              </a:rPr>
              <a:t>Minimum maintenance time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13673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Fuels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CF12D-C634-4D80-830D-B1EEDACC7009}"/>
              </a:ext>
            </a:extLst>
          </p:cNvPr>
          <p:cNvSpPr txBox="1">
            <a:spLocks/>
          </p:cNvSpPr>
          <p:nvPr/>
        </p:nvSpPr>
        <p:spPr>
          <a:xfrm>
            <a:off x="797389" y="4189958"/>
            <a:ext cx="425060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</a:t>
            </a:r>
            <a:r>
              <a:rPr lang="en-US" sz="2000" b="1" spc="-10" dirty="0">
                <a:latin typeface="+mj-lt"/>
                <a:cs typeface="RobotoRegular"/>
              </a:rPr>
              <a:t>All Internal Combustion Engines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B1F12-3C91-45FB-ACDC-7233947BEE10}"/>
              </a:ext>
            </a:extLst>
          </p:cNvPr>
          <p:cNvSpPr/>
          <p:nvPr/>
        </p:nvSpPr>
        <p:spPr>
          <a:xfrm>
            <a:off x="4927330" y="1070766"/>
            <a:ext cx="3678051" cy="5055230"/>
          </a:xfrm>
          <a:prstGeom prst="rect">
            <a:avLst/>
          </a:prstGeom>
          <a:ln>
            <a:solidFill>
              <a:srgbClr val="FF0000">
                <a:alpha val="90000"/>
              </a:srgb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900"/>
              </a:spcAft>
              <a:buClr>
                <a:srgbClr val="C00000"/>
              </a:buClr>
            </a:pPr>
            <a:r>
              <a:rPr lang="en-US" sz="2000" b="1" dirty="0">
                <a:latin typeface="+mj-lt"/>
                <a:cs typeface="Arial" pitchFamily="34" charset="0"/>
              </a:rPr>
              <a:t>APPLICATIONS: 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Petrol &amp; Diesel Engines 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Gensets 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HCV to LCV 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Mining Equipment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Earth Moving Equipment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Hydraulic Machines &amp; Cranes</a:t>
            </a:r>
          </a:p>
          <a:p>
            <a:pPr algn="just">
              <a:spcAft>
                <a:spcPts val="900"/>
              </a:spcAft>
              <a:buClr>
                <a:srgbClr val="C00000"/>
              </a:buClr>
            </a:pPr>
            <a:r>
              <a:rPr lang="en-US" sz="2000" b="1" dirty="0">
                <a:latin typeface="+mj-lt"/>
                <a:cs typeface="Arial" pitchFamily="34" charset="0"/>
              </a:rPr>
              <a:t>FUELS: 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Diesel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Petrol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LPG</a:t>
            </a:r>
          </a:p>
          <a:p>
            <a:pPr marL="285750" indent="-285750" algn="just">
              <a:spcAft>
                <a:spcPts val="900"/>
              </a:spcAft>
              <a:buClr>
                <a:srgbClr val="C00000"/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itchFamily="34" charset="0"/>
              </a:rPr>
              <a:t>CNG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383486-FDFD-4B51-9CD0-1AA875EA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580" y="4911956"/>
            <a:ext cx="2781300" cy="1543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C907D-8C07-47A5-BC27-5FED6B1341A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042253" y="3065087"/>
            <a:ext cx="2705100" cy="144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952494-E8EA-4DD2-9D38-A8F4E23E3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214" y="860203"/>
            <a:ext cx="2813793" cy="18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FREE TRIAL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FB29186-DFCE-4345-8E6E-9950376CA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6831" y="369953"/>
            <a:ext cx="5634720" cy="6385032"/>
          </a:xfrm>
        </p:spPr>
        <p:txBody>
          <a:bodyPr>
            <a:normAutofit fontScale="92500" lnSpcReduction="10000"/>
          </a:bodyPr>
          <a:lstStyle/>
          <a:p>
            <a:pPr marL="0" marR="5080" indent="-2520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spc="20" dirty="0">
                <a:latin typeface="+mj-lt"/>
                <a:cs typeface="RobotoRegular"/>
              </a:rPr>
              <a:t>STEP 1:</a:t>
            </a:r>
            <a:endParaRPr lang="en-US" sz="2000" b="1" dirty="0">
              <a:latin typeface="+mj-lt"/>
              <a:cs typeface="RobotoRegular"/>
            </a:endParaRPr>
          </a:p>
          <a:p>
            <a:pPr algn="just" fontAlgn="base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End User has to provide Preliminary details (Model. Year of Mfg., Kms / Liter of Fuel OR Avg. KWH produced / Liter of Fuel, etc.) for Vehicle / Diesel Generator / Respective Engine to enable us to create a baseline  </a:t>
            </a:r>
          </a:p>
          <a:p>
            <a:pPr marL="0" algn="just" fontAlgn="base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en-US" sz="2000" spc="20" dirty="0">
                <a:latin typeface="+mj-lt"/>
                <a:cs typeface="RobotoRegular"/>
              </a:rPr>
              <a:t>Our Representative / Technician visits the end user’s place / site to inspect the engine and collect exhaust manifold details (if required) </a:t>
            </a:r>
            <a:endParaRPr lang="en-US" sz="2000" dirty="0">
              <a:latin typeface="+mj-lt"/>
              <a:cs typeface="RobotoRegular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b="1" spc="20" dirty="0">
                <a:latin typeface="+mj-lt"/>
                <a:cs typeface="RobotoRegular"/>
              </a:rPr>
              <a:t>STEP 2: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Appropriate Model of Power O</a:t>
            </a:r>
            <a:r>
              <a:rPr lang="en-US" sz="2000" baseline="-25000" dirty="0">
                <a:latin typeface="+mj-lt"/>
              </a:rPr>
              <a:t>2</a:t>
            </a:r>
            <a:r>
              <a:rPr lang="en-US" sz="2000" dirty="0">
                <a:latin typeface="+mj-lt"/>
              </a:rPr>
              <a:t> is selected OR Designed by us for that specific requirement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A formal Proposal with Prices is submitted to end users. A Conditional PO is released by End users for supply and installation on FOC basis. Payment will be done BY end user only after satisfactory results  </a:t>
            </a:r>
          </a:p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en-US" sz="2000" dirty="0">
                <a:latin typeface="+mj-lt"/>
              </a:rPr>
              <a:t>In case If the end user is not willing to continue / pay money for Power O</a:t>
            </a:r>
            <a:r>
              <a:rPr lang="en-US" sz="2000" baseline="-25000" dirty="0">
                <a:latin typeface="+mj-lt"/>
              </a:rPr>
              <a:t>2</a:t>
            </a:r>
            <a:r>
              <a:rPr lang="en-US" sz="2000" dirty="0">
                <a:latin typeface="+mj-lt"/>
              </a:rPr>
              <a:t>, we remove it and take back the same in our custody</a:t>
            </a:r>
          </a:p>
          <a:p>
            <a:pPr marL="0" marR="5080" indent="-252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2000" b="1" dirty="0">
              <a:latin typeface="+mj-lt"/>
              <a:cs typeface="RobotoRegular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CF12D-C634-4D80-830D-B1EEDACC7009}"/>
              </a:ext>
            </a:extLst>
          </p:cNvPr>
          <p:cNvSpPr txBox="1">
            <a:spLocks/>
          </p:cNvSpPr>
          <p:nvPr/>
        </p:nvSpPr>
        <p:spPr>
          <a:xfrm>
            <a:off x="1285904" y="4227536"/>
            <a:ext cx="302305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</a:t>
            </a:r>
            <a:r>
              <a:rPr lang="en-US" sz="2000" b="1" spc="-10" dirty="0">
                <a:latin typeface="+mj-lt"/>
                <a:cs typeface="RobotoRegular"/>
              </a:rPr>
              <a:t>ZERO charges for TRIAL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8052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Installation         1 of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8E1F45-67B3-41FE-AF3A-37BBBCC25123}"/>
              </a:ext>
            </a:extLst>
          </p:cNvPr>
          <p:cNvSpPr txBox="1">
            <a:spLocks/>
          </p:cNvSpPr>
          <p:nvPr/>
        </p:nvSpPr>
        <p:spPr>
          <a:xfrm>
            <a:off x="687897" y="4152380"/>
            <a:ext cx="4197254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</a:t>
            </a:r>
            <a:r>
              <a:rPr lang="en-US" sz="2000" b="1" spc="-10" dirty="0">
                <a:latin typeface="+mj-lt"/>
                <a:cs typeface="RobotoRegular"/>
              </a:rPr>
              <a:t>Simple installation in 20# minutes</a:t>
            </a:r>
            <a:endParaRPr lang="en-IN" sz="2000" dirty="0"/>
          </a:p>
        </p:txBody>
      </p:sp>
      <p:pic>
        <p:nvPicPr>
          <p:cNvPr id="2050" name="Picture 2" descr="Truck">
            <a:extLst>
              <a:ext uri="{FF2B5EF4-FFF2-40B4-BE49-F238E27FC236}">
                <a16:creationId xmlns:a16="http://schemas.microsoft.com/office/drawing/2014/main" id="{4CC7AF40-8C69-40FC-BAC3-7B19099A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120" y="689812"/>
            <a:ext cx="5508000" cy="5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1BDEED8-A093-41EF-B0F8-48A141ED99F4}"/>
              </a:ext>
            </a:extLst>
          </p:cNvPr>
          <p:cNvSpPr/>
          <p:nvPr/>
        </p:nvSpPr>
        <p:spPr>
          <a:xfrm>
            <a:off x="5374105" y="3930316"/>
            <a:ext cx="1251284" cy="978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DA2499-4157-4DD0-A045-152953415EF9}"/>
              </a:ext>
            </a:extLst>
          </p:cNvPr>
          <p:cNvSpPr/>
          <p:nvPr/>
        </p:nvSpPr>
        <p:spPr>
          <a:xfrm>
            <a:off x="9143999" y="5189621"/>
            <a:ext cx="1724526" cy="978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7BAD8A-ED0F-4458-850E-B60C368BB66D}"/>
              </a:ext>
            </a:extLst>
          </p:cNvPr>
          <p:cNvCxnSpPr>
            <a:cxnSpLocks/>
          </p:cNvCxnSpPr>
          <p:nvPr/>
        </p:nvCxnSpPr>
        <p:spPr>
          <a:xfrm>
            <a:off x="10266948" y="4876800"/>
            <a:ext cx="0" cy="1026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60B0A81-9C1C-4D08-81E3-089C312B4420}"/>
              </a:ext>
            </a:extLst>
          </p:cNvPr>
          <p:cNvSpPr txBox="1">
            <a:spLocks/>
          </p:cNvSpPr>
          <p:nvPr/>
        </p:nvSpPr>
        <p:spPr>
          <a:xfrm>
            <a:off x="9495122" y="3240503"/>
            <a:ext cx="1269132" cy="160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Power O</a:t>
            </a:r>
            <a:r>
              <a:rPr lang="en-US" sz="2000" b="1" spc="-10" baseline="-25000" dirty="0">
                <a:solidFill>
                  <a:srgbClr val="FFFF00"/>
                </a:solidFill>
                <a:latin typeface="+mj-lt"/>
                <a:cs typeface="RobotoRegular"/>
              </a:rPr>
              <a:t>2</a:t>
            </a: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 Clamping on Exhaust pipe</a:t>
            </a:r>
            <a:endParaRPr lang="en-IN" sz="2000" dirty="0">
              <a:solidFill>
                <a:srgbClr val="FFFF00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D747EA8-50B0-4287-80D2-2625073B3215}"/>
              </a:ext>
            </a:extLst>
          </p:cNvPr>
          <p:cNvSpPr txBox="1">
            <a:spLocks/>
          </p:cNvSpPr>
          <p:nvPr/>
        </p:nvSpPr>
        <p:spPr>
          <a:xfrm>
            <a:off x="5428447" y="4371470"/>
            <a:ext cx="1269132" cy="160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Power O</a:t>
            </a:r>
            <a:r>
              <a:rPr lang="en-US" sz="2000" b="1" spc="-10" baseline="-25000" dirty="0">
                <a:solidFill>
                  <a:srgbClr val="FFFF00"/>
                </a:solidFill>
                <a:latin typeface="+mj-lt"/>
                <a:cs typeface="RobotoRegular"/>
              </a:rPr>
              <a:t>2</a:t>
            </a: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 Nozzle Fitting in Air Filter</a:t>
            </a:r>
            <a:endParaRPr lang="en-IN" sz="2000" dirty="0">
              <a:solidFill>
                <a:srgbClr val="FFFF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BB4C8E-1A29-4254-99DE-9D2E97825786}"/>
              </a:ext>
            </a:extLst>
          </p:cNvPr>
          <p:cNvCxnSpPr>
            <a:cxnSpLocks/>
          </p:cNvCxnSpPr>
          <p:nvPr/>
        </p:nvCxnSpPr>
        <p:spPr>
          <a:xfrm flipV="1">
            <a:off x="5895474" y="4395537"/>
            <a:ext cx="0" cy="7379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45B3C8-04B6-4B3A-A70A-4BF6999C9533}"/>
              </a:ext>
            </a:extLst>
          </p:cNvPr>
          <p:cNvSpPr txBox="1">
            <a:spLocks/>
          </p:cNvSpPr>
          <p:nvPr/>
        </p:nvSpPr>
        <p:spPr>
          <a:xfrm>
            <a:off x="7144953" y="2093495"/>
            <a:ext cx="1269132" cy="160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Power O</a:t>
            </a:r>
            <a:r>
              <a:rPr lang="en-US" sz="2000" b="1" spc="-10" baseline="-25000" dirty="0">
                <a:solidFill>
                  <a:srgbClr val="FFFF00"/>
                </a:solidFill>
                <a:latin typeface="+mj-lt"/>
                <a:cs typeface="RobotoRegular"/>
              </a:rPr>
              <a:t>2</a:t>
            </a:r>
            <a:r>
              <a:rPr lang="en-US" sz="2000" b="1" spc="-10" dirty="0">
                <a:solidFill>
                  <a:srgbClr val="FFFF00"/>
                </a:solidFill>
                <a:latin typeface="+mj-lt"/>
                <a:cs typeface="RobotoRegular"/>
              </a:rPr>
              <a:t> Hose Pipe</a:t>
            </a:r>
            <a:endParaRPr lang="en-IN" sz="2000" dirty="0">
              <a:solidFill>
                <a:srgbClr val="FFFF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6288E5-4E4A-4990-8B5E-7DB3F7EBD1D0}"/>
              </a:ext>
            </a:extLst>
          </p:cNvPr>
          <p:cNvCxnSpPr>
            <a:cxnSpLocks/>
          </p:cNvCxnSpPr>
          <p:nvPr/>
        </p:nvCxnSpPr>
        <p:spPr>
          <a:xfrm flipH="1">
            <a:off x="7162801" y="3689684"/>
            <a:ext cx="200525" cy="425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76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Installation           2 of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8E1F45-67B3-41FE-AF3A-37BBBCC25123}"/>
              </a:ext>
            </a:extLst>
          </p:cNvPr>
          <p:cNvSpPr txBox="1">
            <a:spLocks/>
          </p:cNvSpPr>
          <p:nvPr/>
        </p:nvSpPr>
        <p:spPr>
          <a:xfrm>
            <a:off x="600215" y="4114802"/>
            <a:ext cx="3971786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</a:t>
            </a:r>
            <a:r>
              <a:rPr lang="en-US" sz="2000" b="1" spc="-10" dirty="0">
                <a:latin typeface="+mj-lt"/>
                <a:cs typeface="RobotoRegular"/>
              </a:rPr>
              <a:t>Suitable for all types of IC Engines</a:t>
            </a:r>
            <a:endParaRPr lang="en-IN" sz="2000" dirty="0"/>
          </a:p>
        </p:txBody>
      </p:sp>
      <p:pic>
        <p:nvPicPr>
          <p:cNvPr id="2050" name="Picture 2" descr="Truck">
            <a:extLst>
              <a:ext uri="{FF2B5EF4-FFF2-40B4-BE49-F238E27FC236}">
                <a16:creationId xmlns:a16="http://schemas.microsoft.com/office/drawing/2014/main" id="{4CC7AF40-8C69-40FC-BAC3-7B19099A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72" y="495100"/>
            <a:ext cx="27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G_20180620_175933">
            <a:extLst>
              <a:ext uri="{FF2B5EF4-FFF2-40B4-BE49-F238E27FC236}">
                <a16:creationId xmlns:a16="http://schemas.microsoft.com/office/drawing/2014/main" id="{2D85478A-4EFA-4035-ABCD-EBE46F249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252" y="495098"/>
            <a:ext cx="27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B0B69E-13B3-4430-B435-846177E1D6FF}"/>
              </a:ext>
            </a:extLst>
          </p:cNvPr>
          <p:cNvSpPr txBox="1">
            <a:spLocks/>
          </p:cNvSpPr>
          <p:nvPr/>
        </p:nvSpPr>
        <p:spPr>
          <a:xfrm>
            <a:off x="5438273" y="2075249"/>
            <a:ext cx="280737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    </a:t>
            </a: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TATA Truck 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ABA172-E858-42F8-AA0B-5F5E6CF970D3}"/>
              </a:ext>
            </a:extLst>
          </p:cNvPr>
          <p:cNvSpPr txBox="1">
            <a:spLocks/>
          </p:cNvSpPr>
          <p:nvPr/>
        </p:nvSpPr>
        <p:spPr>
          <a:xfrm>
            <a:off x="8189494" y="2067229"/>
            <a:ext cx="280737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    </a:t>
            </a: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SKODA Octavia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100" name="Picture 4" descr="IMG-20180713-WA0053">
            <a:extLst>
              <a:ext uri="{FF2B5EF4-FFF2-40B4-BE49-F238E27FC236}">
                <a16:creationId xmlns:a16="http://schemas.microsoft.com/office/drawing/2014/main" id="{1EB967ED-218D-48AF-9191-968E9C94A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67" y="3591226"/>
            <a:ext cx="27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86C1CC-3011-4811-903D-63575099B6AF}"/>
              </a:ext>
            </a:extLst>
          </p:cNvPr>
          <p:cNvSpPr txBox="1">
            <a:spLocks/>
          </p:cNvSpPr>
          <p:nvPr/>
        </p:nvSpPr>
        <p:spPr>
          <a:xfrm>
            <a:off x="5446294" y="5179396"/>
            <a:ext cx="280737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  </a:t>
            </a: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TOYOTA Innova 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102" name="Picture 6" descr="IMG-20180817-WA0055">
            <a:extLst>
              <a:ext uri="{FF2B5EF4-FFF2-40B4-BE49-F238E27FC236}">
                <a16:creationId xmlns:a16="http://schemas.microsoft.com/office/drawing/2014/main" id="{1CFEB092-68BB-4800-96F6-9A44BAE37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324" y="3591223"/>
            <a:ext cx="270000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B5909B-B754-4454-A51E-23874046B8C0}"/>
              </a:ext>
            </a:extLst>
          </p:cNvPr>
          <p:cNvSpPr txBox="1">
            <a:spLocks/>
          </p:cNvSpPr>
          <p:nvPr/>
        </p:nvSpPr>
        <p:spPr>
          <a:xfrm>
            <a:off x="8261684" y="5155333"/>
            <a:ext cx="280737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    </a:t>
            </a: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SCANIA Dumper 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7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Case Study            Page 1 of 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7E35D7-D4E0-4BC7-A790-B604D9180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116" y="126123"/>
            <a:ext cx="6633284" cy="3168869"/>
          </a:xfrm>
        </p:spPr>
        <p:txBody>
          <a:bodyPr>
            <a:normAutofit fontScale="62500" lnSpcReduction="20000"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3500" dirty="0">
                <a:latin typeface="+mj-lt"/>
              </a:rPr>
              <a:t>Date: 21.02.2020 </a:t>
            </a: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3500" dirty="0">
                <a:latin typeface="+mj-lt"/>
              </a:rPr>
              <a:t>Car Model : Maruti Suzuki Nexa  Baleno</a:t>
            </a: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3500" dirty="0">
                <a:latin typeface="+mj-lt"/>
              </a:rPr>
              <a:t>Manufacturing Year: 2018, Petrol </a:t>
            </a:r>
          </a:p>
          <a:p>
            <a:pPr marL="425450" marR="5080" indent="-42545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  <a:tabLst>
                <a:tab pos="3482975" algn="l"/>
              </a:tabLst>
            </a:pPr>
            <a:r>
              <a:rPr lang="en-US" sz="3500" dirty="0">
                <a:latin typeface="+mj-lt"/>
              </a:rPr>
              <a:t>Average before fitting of Power O</a:t>
            </a:r>
            <a:r>
              <a:rPr lang="en-US" sz="3500" baseline="-25000" dirty="0">
                <a:latin typeface="+mj-lt"/>
              </a:rPr>
              <a:t>2</a:t>
            </a:r>
            <a:r>
              <a:rPr lang="en-US" sz="3500" dirty="0">
                <a:latin typeface="+mj-lt"/>
              </a:rPr>
              <a:t> : 16.0 Km/ Liter (Highway / Long Distance) </a:t>
            </a:r>
          </a:p>
          <a:p>
            <a:pPr marL="425450" marR="5080" indent="-42545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  <a:tabLst>
                <a:tab pos="3482975" algn="l"/>
              </a:tabLst>
            </a:pPr>
            <a:r>
              <a:rPr lang="en-US" sz="3500" dirty="0">
                <a:latin typeface="+mj-lt"/>
              </a:rPr>
              <a:t>Average before fitting of Power O</a:t>
            </a:r>
            <a:r>
              <a:rPr lang="en-US" sz="3500" baseline="-25000" dirty="0">
                <a:latin typeface="+mj-lt"/>
              </a:rPr>
              <a:t>2</a:t>
            </a:r>
            <a:r>
              <a:rPr lang="en-US" sz="3500" dirty="0">
                <a:latin typeface="+mj-lt"/>
              </a:rPr>
              <a:t> : 13.7 Km/ Liter (within Mumbai City)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EAD89-2048-44C4-A551-4739D9482F13}"/>
              </a:ext>
            </a:extLst>
          </p:cNvPr>
          <p:cNvSpPr txBox="1">
            <a:spLocks/>
          </p:cNvSpPr>
          <p:nvPr/>
        </p:nvSpPr>
        <p:spPr>
          <a:xfrm>
            <a:off x="1049640" y="4164906"/>
            <a:ext cx="439983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latin typeface="+mj-lt"/>
                <a:cs typeface="RobotoRegular"/>
              </a:rPr>
              <a:t>BEFORE Installing POWER O2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CEF1E3-7032-4DEE-8CEF-F3F21834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631" y="3343781"/>
            <a:ext cx="6104012" cy="263992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53CB357-A2A8-45D6-8044-34944BF17411}"/>
              </a:ext>
            </a:extLst>
          </p:cNvPr>
          <p:cNvSpPr/>
          <p:nvPr/>
        </p:nvSpPr>
        <p:spPr>
          <a:xfrm>
            <a:off x="7820528" y="4981072"/>
            <a:ext cx="1491916" cy="56147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58731D-CADE-4462-A365-9848FAEC69D0}"/>
              </a:ext>
            </a:extLst>
          </p:cNvPr>
          <p:cNvSpPr txBox="1">
            <a:spLocks/>
          </p:cNvSpPr>
          <p:nvPr/>
        </p:nvSpPr>
        <p:spPr>
          <a:xfrm>
            <a:off x="6683607" y="5077328"/>
            <a:ext cx="4399830" cy="1363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spc="-10" dirty="0">
                <a:solidFill>
                  <a:srgbClr val="FF0000"/>
                </a:solidFill>
                <a:latin typeface="+mj-lt"/>
                <a:cs typeface="RobotoRegular"/>
              </a:rPr>
              <a:t>Average before installing POWER O</a:t>
            </a:r>
            <a:r>
              <a:rPr lang="en-US" sz="2200" b="1" spc="-10" baseline="-25000" dirty="0">
                <a:solidFill>
                  <a:srgbClr val="FF0000"/>
                </a:solidFill>
                <a:latin typeface="+mj-lt"/>
                <a:cs typeface="RobotoRegular"/>
              </a:rPr>
              <a:t>2</a:t>
            </a:r>
            <a:endParaRPr lang="en-IN" sz="2200" baseline="-250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4D0059-F2F8-4CC5-8C60-F9E36081D7CD}"/>
              </a:ext>
            </a:extLst>
          </p:cNvPr>
          <p:cNvCxnSpPr>
            <a:cxnSpLocks/>
          </p:cNvCxnSpPr>
          <p:nvPr/>
        </p:nvCxnSpPr>
        <p:spPr>
          <a:xfrm flipV="1">
            <a:off x="8462212" y="5406190"/>
            <a:ext cx="0" cy="7379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99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Case Study                  Page 2 of 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7E35D7-D4E0-4BC7-A790-B604D9180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116" y="1024759"/>
            <a:ext cx="5960622" cy="1814694"/>
          </a:xfrm>
        </p:spPr>
        <p:txBody>
          <a:bodyPr>
            <a:normAutofit fontScale="92500" lnSpcReduction="10000"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Date: 21.02.2020 </a:t>
            </a: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Car Model : Maruti Suzuki Nexa  Baleno</a:t>
            </a:r>
          </a:p>
          <a:p>
            <a:pPr marL="205200" indent="-457200" algn="just" fontAlgn="base"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Manufacturing Year: 2018, Petrol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EAD89-2048-44C4-A551-4739D9482F13}"/>
              </a:ext>
            </a:extLst>
          </p:cNvPr>
          <p:cNvSpPr txBox="1">
            <a:spLocks/>
          </p:cNvSpPr>
          <p:nvPr/>
        </p:nvSpPr>
        <p:spPr>
          <a:xfrm>
            <a:off x="987010" y="4189958"/>
            <a:ext cx="439983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</a:t>
            </a:r>
            <a:r>
              <a:rPr lang="en-US" sz="2000" b="1" spc="-10" dirty="0">
                <a:latin typeface="+mj-lt"/>
                <a:cs typeface="RobotoRegular"/>
              </a:rPr>
              <a:t>Installation of POWER O2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66971-9825-497C-A0A1-2C36DFC61488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181848" y="3123967"/>
            <a:ext cx="3047750" cy="219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ACB81-3696-4CE0-9749-5A0B5DAD002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23" y="3139993"/>
            <a:ext cx="3137396" cy="2196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5D68CB2-F883-40EA-89AE-7B299E16844C}"/>
              </a:ext>
            </a:extLst>
          </p:cNvPr>
          <p:cNvSpPr/>
          <p:nvPr/>
        </p:nvSpPr>
        <p:spPr>
          <a:xfrm>
            <a:off x="9721515" y="3160295"/>
            <a:ext cx="1251284" cy="978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1199E4-A14C-4076-8DB2-389BBC9B5F12}"/>
              </a:ext>
            </a:extLst>
          </p:cNvPr>
          <p:cNvSpPr txBox="1">
            <a:spLocks/>
          </p:cNvSpPr>
          <p:nvPr/>
        </p:nvSpPr>
        <p:spPr>
          <a:xfrm>
            <a:off x="9823153" y="4531615"/>
            <a:ext cx="1433426" cy="1743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100" b="1" spc="-10" dirty="0">
                <a:solidFill>
                  <a:srgbClr val="FF0000"/>
                </a:solidFill>
                <a:latin typeface="+mj-lt"/>
                <a:cs typeface="RobotoRegular"/>
              </a:rPr>
              <a:t>Power O</a:t>
            </a:r>
            <a:r>
              <a:rPr lang="en-US" sz="2100" b="1" spc="-10" baseline="-25000" dirty="0">
                <a:solidFill>
                  <a:srgbClr val="FF0000"/>
                </a:solidFill>
                <a:latin typeface="+mj-lt"/>
                <a:cs typeface="RobotoRegular"/>
              </a:rPr>
              <a:t>2</a:t>
            </a:r>
            <a:r>
              <a:rPr lang="en-US" sz="2100" b="1" spc="-10" dirty="0">
                <a:solidFill>
                  <a:srgbClr val="FF0000"/>
                </a:solidFill>
                <a:latin typeface="+mj-lt"/>
                <a:cs typeface="RobotoRegular"/>
              </a:rPr>
              <a:t> Nozzle Fitting in Air Filter</a:t>
            </a:r>
            <a:endParaRPr lang="en-IN" sz="21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989FE7-A3C9-43A3-A874-6ACB6E4AD61A}"/>
              </a:ext>
            </a:extLst>
          </p:cNvPr>
          <p:cNvCxnSpPr>
            <a:cxnSpLocks/>
          </p:cNvCxnSpPr>
          <p:nvPr/>
        </p:nvCxnSpPr>
        <p:spPr>
          <a:xfrm flipV="1">
            <a:off x="10242884" y="3625516"/>
            <a:ext cx="0" cy="1750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EBB6F44-EF6A-468F-817A-BA3F779BDC0F}"/>
              </a:ext>
            </a:extLst>
          </p:cNvPr>
          <p:cNvSpPr/>
          <p:nvPr/>
        </p:nvSpPr>
        <p:spPr>
          <a:xfrm>
            <a:off x="6047873" y="4138863"/>
            <a:ext cx="1251284" cy="978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48556D9-2862-4C3A-BA9C-3559F880C10F}"/>
              </a:ext>
            </a:extLst>
          </p:cNvPr>
          <p:cNvSpPr txBox="1">
            <a:spLocks/>
          </p:cNvSpPr>
          <p:nvPr/>
        </p:nvSpPr>
        <p:spPr>
          <a:xfrm>
            <a:off x="6102215" y="4580017"/>
            <a:ext cx="1269132" cy="160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Power O</a:t>
            </a:r>
            <a:r>
              <a:rPr lang="en-US" sz="2000" b="1" spc="-10" baseline="-25000" dirty="0">
                <a:solidFill>
                  <a:srgbClr val="FF0000"/>
                </a:solidFill>
                <a:latin typeface="+mj-lt"/>
                <a:cs typeface="RobotoRegular"/>
              </a:rPr>
              <a:t>2</a:t>
            </a:r>
            <a:r>
              <a:rPr lang="en-US" sz="2000" b="1" spc="-10" dirty="0">
                <a:solidFill>
                  <a:srgbClr val="FF0000"/>
                </a:solidFill>
                <a:latin typeface="+mj-lt"/>
                <a:cs typeface="RobotoRegular"/>
              </a:rPr>
              <a:t> Nozzle Fitting in Air Filter</a:t>
            </a:r>
            <a:endParaRPr lang="en-IN" sz="20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15EADD-9AEF-4B17-AD55-D66C6CBAF3E1}"/>
              </a:ext>
            </a:extLst>
          </p:cNvPr>
          <p:cNvCxnSpPr>
            <a:cxnSpLocks/>
          </p:cNvCxnSpPr>
          <p:nvPr/>
        </p:nvCxnSpPr>
        <p:spPr>
          <a:xfrm flipV="1">
            <a:off x="6569242" y="4604084"/>
            <a:ext cx="0" cy="7379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C7D456E-B905-40EE-849B-5A2BD639FB08}"/>
              </a:ext>
            </a:extLst>
          </p:cNvPr>
          <p:cNvSpPr/>
          <p:nvPr/>
        </p:nvSpPr>
        <p:spPr>
          <a:xfrm>
            <a:off x="8470232" y="3416969"/>
            <a:ext cx="1251284" cy="9785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D520C38-BCBD-4854-968C-48367AAFD51E}"/>
              </a:ext>
            </a:extLst>
          </p:cNvPr>
          <p:cNvSpPr txBox="1">
            <a:spLocks/>
          </p:cNvSpPr>
          <p:nvPr/>
        </p:nvSpPr>
        <p:spPr>
          <a:xfrm>
            <a:off x="8540339" y="4425681"/>
            <a:ext cx="1269132" cy="160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spc="-10" dirty="0">
                <a:solidFill>
                  <a:srgbClr val="FF0000"/>
                </a:solidFill>
                <a:latin typeface="+mj-lt"/>
                <a:cs typeface="RobotoRegular"/>
              </a:rPr>
              <a:t>Power O</a:t>
            </a:r>
            <a:r>
              <a:rPr lang="en-US" b="1" spc="-10" baseline="-25000" dirty="0">
                <a:solidFill>
                  <a:srgbClr val="FF0000"/>
                </a:solidFill>
                <a:latin typeface="+mj-lt"/>
                <a:cs typeface="RobotoRegular"/>
              </a:rPr>
              <a:t>2</a:t>
            </a:r>
            <a:r>
              <a:rPr lang="en-US" b="1" spc="-10" dirty="0">
                <a:solidFill>
                  <a:srgbClr val="FF0000"/>
                </a:solidFill>
                <a:latin typeface="+mj-lt"/>
                <a:cs typeface="RobotoRegular"/>
              </a:rPr>
              <a:t> Hose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81DB9A-9D24-4410-A937-AD73A0674A8C}"/>
              </a:ext>
            </a:extLst>
          </p:cNvPr>
          <p:cNvCxnSpPr>
            <a:cxnSpLocks/>
          </p:cNvCxnSpPr>
          <p:nvPr/>
        </p:nvCxnSpPr>
        <p:spPr>
          <a:xfrm flipV="1">
            <a:off x="9039727" y="4090738"/>
            <a:ext cx="0" cy="13483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627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Case Study               Page 3 of 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7E35D7-D4E0-4BC7-A790-B604D9180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609" y="331074"/>
            <a:ext cx="6555687" cy="2506718"/>
          </a:xfrm>
        </p:spPr>
        <p:txBody>
          <a:bodyPr>
            <a:normAutofit fontScale="92500" lnSpcReduction="20000"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L="0" indent="-252000" algn="just" fontAlgn="base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Date: 22.02.2020 </a:t>
            </a:r>
          </a:p>
          <a:p>
            <a:pPr marL="0" indent="-252000" algn="just" fontAlgn="base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Starting : 7047 Km End : 7261 Km</a:t>
            </a:r>
          </a:p>
          <a:p>
            <a:pPr marL="0" marR="5080" indent="-252000" algn="just" fontAlgn="base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3482975" algn="l"/>
              </a:tabLst>
            </a:pPr>
            <a:r>
              <a:rPr lang="en-US" sz="2400" dirty="0">
                <a:latin typeface="+mj-lt"/>
              </a:rPr>
              <a:t>Total Distance Travelled: 214 Km</a:t>
            </a:r>
          </a:p>
          <a:p>
            <a:pPr marL="0" marR="5080" indent="-252000" algn="just" fontAlgn="base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  <a:tabLst>
                <a:tab pos="3482975" algn="l"/>
              </a:tabLst>
            </a:pPr>
            <a:r>
              <a:rPr lang="en-US" sz="2400" dirty="0">
                <a:latin typeface="+mj-lt"/>
              </a:rPr>
              <a:t>Average after fitting of Power O</a:t>
            </a:r>
            <a:r>
              <a:rPr lang="en-US" sz="2400" baseline="-25000" dirty="0">
                <a:latin typeface="+mj-lt"/>
              </a:rPr>
              <a:t>2</a:t>
            </a:r>
            <a:r>
              <a:rPr lang="en-US" sz="2400" dirty="0">
                <a:latin typeface="+mj-lt"/>
              </a:rPr>
              <a:t> : 24.5 Km/ Liter (On Highway)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EAD89-2048-44C4-A551-4739D9482F13}"/>
              </a:ext>
            </a:extLst>
          </p:cNvPr>
          <p:cNvSpPr txBox="1">
            <a:spLocks/>
          </p:cNvSpPr>
          <p:nvPr/>
        </p:nvSpPr>
        <p:spPr>
          <a:xfrm>
            <a:off x="911854" y="4164906"/>
            <a:ext cx="3547412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</a:t>
            </a:r>
            <a:r>
              <a:rPr lang="en-US" sz="2000" b="1" spc="-10" dirty="0">
                <a:latin typeface="+mj-lt"/>
                <a:cs typeface="RobotoRegular"/>
              </a:rPr>
              <a:t>AFTER Installing POWER O2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BB803-A016-4849-94CB-470E9182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246" y="2982159"/>
            <a:ext cx="2952000" cy="28641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A3D8F72-8A75-48AE-B5CB-A1CAD34182FA}"/>
              </a:ext>
            </a:extLst>
          </p:cNvPr>
          <p:cNvSpPr/>
          <p:nvPr/>
        </p:nvSpPr>
        <p:spPr>
          <a:xfrm>
            <a:off x="9473692" y="5151164"/>
            <a:ext cx="1491916" cy="561473"/>
          </a:xfrm>
          <a:prstGeom prst="ellipse">
            <a:avLst/>
          </a:prstGeom>
          <a:noFill/>
          <a:ln w="44450">
            <a:solidFill>
              <a:srgbClr val="00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66A330-19AA-476D-8CAC-FFCFFC49C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010" y="2987423"/>
            <a:ext cx="3352801" cy="287090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14EE904-8B6B-462A-A382-3CFA1B3FDF6A}"/>
              </a:ext>
            </a:extLst>
          </p:cNvPr>
          <p:cNvSpPr/>
          <p:nvPr/>
        </p:nvSpPr>
        <p:spPr>
          <a:xfrm>
            <a:off x="6272024" y="5202257"/>
            <a:ext cx="1491916" cy="56147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CC018F-9652-4E80-A351-7437E0E67E57}"/>
              </a:ext>
            </a:extLst>
          </p:cNvPr>
          <p:cNvSpPr/>
          <p:nvPr/>
        </p:nvSpPr>
        <p:spPr>
          <a:xfrm>
            <a:off x="9358943" y="4325670"/>
            <a:ext cx="1491916" cy="561473"/>
          </a:xfrm>
          <a:prstGeom prst="ellipse">
            <a:avLst/>
          </a:prstGeom>
          <a:noFill/>
          <a:ln w="44450">
            <a:solidFill>
              <a:srgbClr val="00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32FC506-6C2B-4494-911B-793442B8A1C4}"/>
              </a:ext>
            </a:extLst>
          </p:cNvPr>
          <p:cNvSpPr txBox="1">
            <a:spLocks/>
          </p:cNvSpPr>
          <p:nvPr/>
        </p:nvSpPr>
        <p:spPr>
          <a:xfrm>
            <a:off x="5890659" y="4891773"/>
            <a:ext cx="439983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</a:t>
            </a:r>
            <a:r>
              <a:rPr lang="en-US" sz="2000" spc="-10" dirty="0">
                <a:latin typeface="+mj-lt"/>
                <a:cs typeface="RobotoRegular"/>
              </a:rPr>
              <a:t>SAVINGS ACHIEVED @53.12%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23317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Case Study               Page 4 of 4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7E35D7-D4E0-4BC7-A790-B604D9180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08" y="614847"/>
            <a:ext cx="4253924" cy="813446"/>
          </a:xfrm>
        </p:spPr>
        <p:txBody>
          <a:bodyPr>
            <a:normAutofit fontScale="85000" lnSpcReduction="20000"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100000"/>
            </a:pPr>
            <a:endParaRPr lang="en-IN" sz="2400" dirty="0">
              <a:latin typeface="+mj-lt"/>
            </a:endParaRPr>
          </a:p>
          <a:p>
            <a:pPr marL="0" indent="0" algn="just" fontAlgn="base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100" b="1" dirty="0">
                <a:latin typeface="+mj-lt"/>
              </a:rPr>
              <a:t>In City: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EAD89-2048-44C4-A551-4739D9482F13}"/>
              </a:ext>
            </a:extLst>
          </p:cNvPr>
          <p:cNvSpPr txBox="1">
            <a:spLocks/>
          </p:cNvSpPr>
          <p:nvPr/>
        </p:nvSpPr>
        <p:spPr>
          <a:xfrm>
            <a:off x="886802" y="4164906"/>
            <a:ext cx="4399830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   </a:t>
            </a:r>
            <a:r>
              <a:rPr lang="en-US" sz="2000" b="1" spc="-10" dirty="0">
                <a:latin typeface="+mj-lt"/>
                <a:cs typeface="RobotoRegular"/>
              </a:rPr>
              <a:t> Minimized Pollution 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63E9D-9C64-4784-B89B-DD5E8D4C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789" y="4046479"/>
            <a:ext cx="4388891" cy="1897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0D99FA-0205-4B33-A86C-6B565001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968" y="1719938"/>
            <a:ext cx="4245215" cy="1836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DE0243C-3C86-4A72-855D-E3751FD601DF}"/>
              </a:ext>
            </a:extLst>
          </p:cNvPr>
          <p:cNvSpPr/>
          <p:nvPr/>
        </p:nvSpPr>
        <p:spPr>
          <a:xfrm>
            <a:off x="8434552" y="2758966"/>
            <a:ext cx="1765738" cy="551793"/>
          </a:xfrm>
          <a:prstGeom prst="ellipse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4C8ADF-59BE-445D-8A6E-A5F6E201F7C4}"/>
              </a:ext>
            </a:extLst>
          </p:cNvPr>
          <p:cNvSpPr/>
          <p:nvPr/>
        </p:nvSpPr>
        <p:spPr>
          <a:xfrm>
            <a:off x="7010399" y="4897821"/>
            <a:ext cx="1765738" cy="551793"/>
          </a:xfrm>
          <a:prstGeom prst="ellipse">
            <a:avLst/>
          </a:prstGeom>
          <a:noFill/>
          <a:ln w="635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20FED-EE92-49A2-BD19-3397C4F9A409}"/>
              </a:ext>
            </a:extLst>
          </p:cNvPr>
          <p:cNvSpPr/>
          <p:nvPr/>
        </p:nvSpPr>
        <p:spPr>
          <a:xfrm flipH="1">
            <a:off x="5029199" y="2427890"/>
            <a:ext cx="1954923" cy="55179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BEFORE                  AVG. 13.7Km/L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8A49BB-CA1D-409A-9B65-116651D182CD}"/>
              </a:ext>
            </a:extLst>
          </p:cNvPr>
          <p:cNvSpPr/>
          <p:nvPr/>
        </p:nvSpPr>
        <p:spPr>
          <a:xfrm flipH="1">
            <a:off x="9884979" y="4945117"/>
            <a:ext cx="1939159" cy="58858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AFTER                 AVG. 21 Km/L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5B240A-13D7-4F3C-ADB7-56999738E642}"/>
              </a:ext>
            </a:extLst>
          </p:cNvPr>
          <p:cNvSpPr txBox="1">
            <a:spLocks/>
          </p:cNvSpPr>
          <p:nvPr/>
        </p:nvSpPr>
        <p:spPr>
          <a:xfrm>
            <a:off x="5133044" y="4929351"/>
            <a:ext cx="4909587" cy="157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71463" marR="508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en-IN" sz="2400" dirty="0">
              <a:latin typeface="+mj-lt"/>
            </a:endParaRPr>
          </a:p>
          <a:p>
            <a:pPr marR="508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200" spc="-10" dirty="0">
              <a:latin typeface="+mj-lt"/>
              <a:cs typeface="RobotoRegular"/>
            </a:endParaRPr>
          </a:p>
          <a:p>
            <a:pPr marL="0" marR="508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spc="-10" dirty="0">
                <a:solidFill>
                  <a:srgbClr val="FF0000"/>
                </a:solidFill>
                <a:latin typeface="+mj-lt"/>
                <a:cs typeface="RobotoRegular"/>
              </a:rPr>
              <a:t>     </a:t>
            </a:r>
            <a:r>
              <a:rPr lang="en-US" sz="2400" b="1" spc="-10" dirty="0">
                <a:solidFill>
                  <a:srgbClr val="002060"/>
                </a:solidFill>
                <a:latin typeface="+mj-lt"/>
                <a:cs typeface="RobotoRegular"/>
              </a:rPr>
              <a:t> </a:t>
            </a:r>
            <a:r>
              <a:rPr lang="en-US" sz="2000" b="1" spc="-10" dirty="0">
                <a:solidFill>
                  <a:srgbClr val="002060"/>
                </a:solidFill>
                <a:latin typeface="+mj-lt"/>
                <a:cs typeface="RobotoRegular"/>
              </a:rPr>
              <a:t>PETROL </a:t>
            </a:r>
            <a:r>
              <a:rPr lang="en-US" sz="2000" b="1" spc="-10" dirty="0">
                <a:latin typeface="+mj-lt"/>
                <a:cs typeface="RobotoRegular"/>
              </a:rPr>
              <a:t>SAVINGS ACHIEVED @53.28%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130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D42E-FB5B-4F25-A302-BADE246C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486B0-1E9C-4ABB-ADA6-466C13FFB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192" y="577524"/>
            <a:ext cx="4068000" cy="5752943"/>
          </a:xfrm>
          <a:prstGeom prst="rect">
            <a:avLst/>
          </a:prstGeom>
          <a:effectLst>
            <a:glow rad="279400">
              <a:srgbClr val="F7F595">
                <a:alpha val="64706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95043436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2445</TotalTime>
  <Words>1153</Words>
  <Application>Microsoft Office PowerPoint</Application>
  <PresentationFormat>Widescreen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 Light</vt:lpstr>
      <vt:lpstr>RobotoRegular</vt:lpstr>
      <vt:lpstr>Rockwell</vt:lpstr>
      <vt:lpstr>Wingdings</vt:lpstr>
      <vt:lpstr>Atlas</vt:lpstr>
      <vt:lpstr>A Presentation on</vt:lpstr>
      <vt:lpstr>Introduction</vt:lpstr>
      <vt:lpstr>The Concept</vt:lpstr>
      <vt:lpstr>What is Power O2?</vt:lpstr>
      <vt:lpstr>Technology &amp; Function</vt:lpstr>
      <vt:lpstr>Benefits     Vehicle Engines</vt:lpstr>
      <vt:lpstr>Benefits       Gensets - Static engines </vt:lpstr>
      <vt:lpstr>Negative Effects?  Maintenance?        Life?</vt:lpstr>
      <vt:lpstr>Applications   Fuels</vt:lpstr>
      <vt:lpstr>FREE TRIAL</vt:lpstr>
      <vt:lpstr>Installation         1 of 2</vt:lpstr>
      <vt:lpstr>Installation           2 of 2</vt:lpstr>
      <vt:lpstr>Case Study            Page 1 of 4</vt:lpstr>
      <vt:lpstr>Case Study                  Page 2 of 4</vt:lpstr>
      <vt:lpstr>Case Study               Page 3 of 4</vt:lpstr>
      <vt:lpstr>Case Study               Page 4 of 4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Techno-Commercial Presentation on</dc:title>
  <dc:creator>Hp</dc:creator>
  <cp:lastModifiedBy>Hp</cp:lastModifiedBy>
  <cp:revision>119</cp:revision>
  <dcterms:created xsi:type="dcterms:W3CDTF">2020-02-25T01:44:31Z</dcterms:created>
  <dcterms:modified xsi:type="dcterms:W3CDTF">2020-03-17T03:42:28Z</dcterms:modified>
</cp:coreProperties>
</file>